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9" r:id="rId6"/>
    <p:sldId id="260" r:id="rId7"/>
    <p:sldId id="266" r:id="rId8"/>
    <p:sldId id="261" r:id="rId9"/>
    <p:sldId id="267" r:id="rId10"/>
    <p:sldId id="262" r:id="rId11"/>
    <p:sldId id="264" r:id="rId12"/>
    <p:sldId id="263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29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7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153058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AFD8D-9B06-9561-FE39-058DBF7EC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8541D6-546A-1AA2-DBC1-F41A391C80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97CAA-AF3E-C0F1-6787-72EA95889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B1A8F-62F4-54BA-ED9D-937EB53105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745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BCE47-B8C2-78F4-CAEC-08FEA45B7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F83B36-5A90-DAC0-6C7E-4C5D9C658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30CE38-3D24-3DB2-8268-9668A1AFCA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B60B73-221D-C5B8-AFD5-279D1DE5BC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1271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BF734-6F3F-BEF7-B4EB-3749EBD58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E4C9C3-1E44-C1A9-1275-7CDC081746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D6978F-439C-9ACA-08B7-0686EABC7A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2EE19C-10C4-DA4E-7A65-D277236E22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9895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Tulisan Tangan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Menggunakan Convolutional Neural Network (CNN)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2377440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011680" y="2788920"/>
            <a:ext cx="27432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2286000" y="2377440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2286000" y="2377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2788920"/>
            <a:ext cx="27432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657600" y="2377440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3657600" y="2377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2788920"/>
            <a:ext cx="27432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5029200" y="2377440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5029200" y="2377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2788920"/>
            <a:ext cx="27432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400800" y="2377440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6400800" y="2377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498080" y="2788920"/>
            <a:ext cx="27432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7772400" y="2377440"/>
            <a:ext cx="1097280" cy="822960"/>
          </a:xfrm>
          <a:prstGeom prst="roundRect">
            <a:avLst>
              <a:gd name="adj" fmla="val 11111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7772400" y="2377440"/>
            <a:ext cx="1097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Kelas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" y="3474720"/>
            <a:ext cx="182880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640080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37673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651760" y="3474720"/>
            <a:ext cx="182880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6" name="Text 24"/>
          <p:cNvSpPr/>
          <p:nvPr/>
        </p:nvSpPr>
        <p:spPr>
          <a:xfrm>
            <a:off x="2651760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651760" y="37673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663440" y="3474720"/>
            <a:ext cx="182880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4663440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663440" y="37673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~99%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675120" y="3474720"/>
            <a:ext cx="1828800" cy="7772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Text 30"/>
          <p:cNvSpPr/>
          <p:nvPr/>
        </p:nvSpPr>
        <p:spPr>
          <a:xfrm>
            <a:off x="6675120" y="3493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675120" y="3767328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0-9 Digit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Handwritten Digit Classification  |  CNN + Edge Detection + RGB Support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182880" y="164592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Presentasi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0"/>
            <a:ext cx="16459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Text 3"/>
          <p:cNvSpPr/>
          <p:nvPr/>
        </p:nvSpPr>
        <p:spPr>
          <a:xfrm>
            <a:off x="182880" y="2926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untuk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klasifikasi digit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0" y="457200"/>
            <a:ext cx="54864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3200400" y="457200"/>
            <a:ext cx="54864" cy="7315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3291840" y="5029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49040" y="502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MNIST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49040" y="80467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 &amp; pembagian data training, validasi, testing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1325880"/>
            <a:ext cx="54864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3200400" y="1325880"/>
            <a:ext cx="54864" cy="7315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3291840" y="1371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49040" y="1371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CNN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749040" y="167335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Blocks, BatchNorm, MaxPool, Fully Connected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2194560"/>
            <a:ext cx="54864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3200400" y="2194560"/>
            <a:ext cx="54864" cy="7315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3291840" y="22402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49040" y="2240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 Training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49040" y="254203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pass, loss, backprop, optimizer Adam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3063240"/>
            <a:ext cx="54864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3200400" y="3063240"/>
            <a:ext cx="54864" cy="7315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Text 21"/>
          <p:cNvSpPr/>
          <p:nvPr/>
        </p:nvSpPr>
        <p:spPr>
          <a:xfrm>
            <a:off x="3291840" y="3108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49040" y="31089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Model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49040" y="341071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Akurasi, Confusion Matrix, Classification Report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0" y="3931920"/>
            <a:ext cx="548640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7" name="Shape 25"/>
          <p:cNvSpPr/>
          <p:nvPr/>
        </p:nvSpPr>
        <p:spPr>
          <a:xfrm>
            <a:off x="3200400" y="3931920"/>
            <a:ext cx="54864" cy="7315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8" name="Text 26"/>
          <p:cNvSpPr/>
          <p:nvPr/>
        </p:nvSpPr>
        <p:spPr>
          <a:xfrm>
            <a:off x="3291840" y="3977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749040" y="3977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 Gambar Baru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749040" y="42793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Grayscale, Edge Detection Sobel, RGB support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Dataset MNIST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MNIST?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(Modified National Institute of Standards and Technology) adalah dataset benchmark standar untuk klasifikasi digit tulisan tangan.
Setiap gambar berukuran </a:t>
            </a:r>
            <a:r>
              <a:rPr lang="en-US" sz="11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piksel grayscale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yang merepresentasikan digit 0 hingga 9.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651760"/>
            <a:ext cx="1371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7" name="Shape 5"/>
          <p:cNvSpPr/>
          <p:nvPr/>
        </p:nvSpPr>
        <p:spPr>
          <a:xfrm>
            <a:off x="365760" y="2651760"/>
            <a:ext cx="13716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365760" y="2743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50.000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3063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74520" y="2651760"/>
            <a:ext cx="1371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1874520" y="265176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1874520" y="2743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874520" y="3063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2651760"/>
            <a:ext cx="1371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Shape 13"/>
          <p:cNvSpPr/>
          <p:nvPr/>
        </p:nvSpPr>
        <p:spPr>
          <a:xfrm>
            <a:off x="3383280" y="2651760"/>
            <a:ext cx="1371600" cy="54864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6" name="Text 14"/>
          <p:cNvSpPr/>
          <p:nvPr/>
        </p:nvSpPr>
        <p:spPr>
          <a:xfrm>
            <a:off x="3383280" y="2743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10.000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83280" y="306324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3611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Kode Implementasi: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913632"/>
            <a:ext cx="4114800" cy="100584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0" name="Text 18"/>
          <p:cNvSpPr/>
          <p:nvPr/>
        </p:nvSpPr>
        <p:spPr>
          <a:xfrm>
            <a:off x="457200" y="3950208"/>
            <a:ext cx="393192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train_dataset = datasets.MNIST(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root='./data', train=True,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transform=transforms.ToTensor())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train_data, val_data = random_split(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train_dataset, [50000, 10000])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846320" y="914400"/>
            <a:ext cx="393192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846320" y="960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Digit MNIST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74920" y="13716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5074920" y="1371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074920" y="198424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px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788152" y="13716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5788152" y="1371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788152" y="198424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px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501384" y="13716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6501384" y="1371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501384" y="198424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px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214616" y="13716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7214616" y="1371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214616" y="198424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px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7927848" y="13716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6" name="Text 34"/>
          <p:cNvSpPr/>
          <p:nvPr/>
        </p:nvSpPr>
        <p:spPr>
          <a:xfrm>
            <a:off x="7927848" y="1371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927848" y="198424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px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5074920" y="29260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5074920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5074920" y="353872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px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788152" y="29260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2" name="Text 40"/>
          <p:cNvSpPr/>
          <p:nvPr/>
        </p:nvSpPr>
        <p:spPr>
          <a:xfrm>
            <a:off x="5788152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5788152" y="353872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px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501384" y="29260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5" name="Text 43"/>
          <p:cNvSpPr/>
          <p:nvPr/>
        </p:nvSpPr>
        <p:spPr>
          <a:xfrm>
            <a:off x="6501384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6501384" y="353872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px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7214616" y="29260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8" name="Text 46"/>
          <p:cNvSpPr/>
          <p:nvPr/>
        </p:nvSpPr>
        <p:spPr>
          <a:xfrm>
            <a:off x="7214616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49" name="Text 47"/>
          <p:cNvSpPr/>
          <p:nvPr/>
        </p:nvSpPr>
        <p:spPr>
          <a:xfrm>
            <a:off x="7214616" y="353872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px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7927848" y="29260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1" name="Text 49"/>
          <p:cNvSpPr/>
          <p:nvPr/>
        </p:nvSpPr>
        <p:spPr>
          <a:xfrm>
            <a:off x="7927848" y="29260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7927848" y="3538728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28×28 px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4846320" y="457200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70.000 total gambar  |  10 kelas digit  |  Grayscale 1 channel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|  Arsitektur CNN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777240" cy="1280160"/>
          </a:xfrm>
          <a:prstGeom prst="roundRect">
            <a:avLst>
              <a:gd name="adj" fmla="val 9412"/>
            </a:avLst>
          </a:prstGeom>
          <a:solidFill>
            <a:srgbClr val="334155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182880" y="1005840"/>
            <a:ext cx="777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1×28×28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60120" y="1645920"/>
            <a:ext cx="164592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Shape 6"/>
          <p:cNvSpPr/>
          <p:nvPr/>
        </p:nvSpPr>
        <p:spPr>
          <a:xfrm>
            <a:off x="1124712" y="1005840"/>
            <a:ext cx="868680" cy="1280160"/>
          </a:xfrm>
          <a:prstGeom prst="roundRect">
            <a:avLst>
              <a:gd name="adj" fmla="val 8421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1124712" y="1005840"/>
            <a:ext cx="868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3×3, pad1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993392" y="1645920"/>
            <a:ext cx="164592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2157984" y="1005840"/>
            <a:ext cx="868680" cy="1280160"/>
          </a:xfrm>
          <a:prstGeom prst="roundRect">
            <a:avLst>
              <a:gd name="adj" fmla="val 842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2157984" y="1005840"/>
            <a:ext cx="868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+ ReLU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+MaxPool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→14×14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026664" y="1645920"/>
            <a:ext cx="164592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Shape 12"/>
          <p:cNvSpPr/>
          <p:nvPr/>
        </p:nvSpPr>
        <p:spPr>
          <a:xfrm>
            <a:off x="3191256" y="1005840"/>
            <a:ext cx="868680" cy="1280160"/>
          </a:xfrm>
          <a:prstGeom prst="roundRect">
            <a:avLst>
              <a:gd name="adj" fmla="val 8421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3191256" y="1005840"/>
            <a:ext cx="868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3×3, pad1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059936" y="1645920"/>
            <a:ext cx="164592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4224528" y="1005840"/>
            <a:ext cx="868680" cy="1280160"/>
          </a:xfrm>
          <a:prstGeom prst="roundRect">
            <a:avLst>
              <a:gd name="adj" fmla="val 8421"/>
            </a:avLst>
          </a:prstGeom>
          <a:solidFill>
            <a:srgbClr val="0891B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224528" y="1005840"/>
            <a:ext cx="8686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+ ReLU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+MaxPool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→7×7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093208" y="1645920"/>
            <a:ext cx="164592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0" name="Shape 18"/>
          <p:cNvSpPr/>
          <p:nvPr/>
        </p:nvSpPr>
        <p:spPr>
          <a:xfrm>
            <a:off x="5257800" y="1005840"/>
            <a:ext cx="777240" cy="1280160"/>
          </a:xfrm>
          <a:prstGeom prst="roundRect">
            <a:avLst>
              <a:gd name="adj" fmla="val 9412"/>
            </a:avLst>
          </a:prstGeom>
          <a:solidFill>
            <a:srgbClr val="6D28D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1" name="Text 19"/>
          <p:cNvSpPr/>
          <p:nvPr/>
        </p:nvSpPr>
        <p:spPr>
          <a:xfrm>
            <a:off x="5257800" y="1005840"/>
            <a:ext cx="777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35040" y="1645920"/>
            <a:ext cx="164592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6199632" y="1005840"/>
            <a:ext cx="777240" cy="1280160"/>
          </a:xfrm>
          <a:prstGeom prst="roundRect">
            <a:avLst>
              <a:gd name="adj" fmla="val 9412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6199632" y="1005840"/>
            <a:ext cx="777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FC1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3136→128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76872" y="1645920"/>
            <a:ext cx="164592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6" name="Shape 24"/>
          <p:cNvSpPr/>
          <p:nvPr/>
        </p:nvSpPr>
        <p:spPr>
          <a:xfrm>
            <a:off x="7141464" y="1005840"/>
            <a:ext cx="685800" cy="1280160"/>
          </a:xfrm>
          <a:prstGeom prst="roundRect">
            <a:avLst>
              <a:gd name="adj" fmla="val 10667"/>
            </a:avLst>
          </a:prstGeom>
          <a:solidFill>
            <a:srgbClr val="92400E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7" name="Text 25"/>
          <p:cNvSpPr/>
          <p:nvPr/>
        </p:nvSpPr>
        <p:spPr>
          <a:xfrm>
            <a:off x="7141464" y="1005840"/>
            <a:ext cx="685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827264" y="1645920"/>
            <a:ext cx="164592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7991856" y="1005840"/>
            <a:ext cx="777240" cy="1280160"/>
          </a:xfrm>
          <a:prstGeom prst="roundRect">
            <a:avLst>
              <a:gd name="adj" fmla="val 9412"/>
            </a:avLst>
          </a:prstGeom>
          <a:solidFill>
            <a:srgbClr val="B45309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7991856" y="1005840"/>
            <a:ext cx="777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FC2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128→10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Logits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2514600"/>
            <a:ext cx="2011680" cy="2377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274320" y="2514600"/>
            <a:ext cx="201168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Text 31"/>
          <p:cNvSpPr/>
          <p:nvPr/>
        </p:nvSpPr>
        <p:spPr>
          <a:xfrm>
            <a:off x="365760" y="2578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2907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Conv2D(1→32, 3×3, pad=1)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" y="3255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BatchNorm2D(32)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65760" y="36027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ReLU Activation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65760" y="3950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MaxPool2d(2×2)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36576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Output: 32×14×14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2450592" y="2514600"/>
            <a:ext cx="2011680" cy="2377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0" name="Shape 38"/>
          <p:cNvSpPr/>
          <p:nvPr/>
        </p:nvSpPr>
        <p:spPr>
          <a:xfrm>
            <a:off x="2450592" y="2514600"/>
            <a:ext cx="2011680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1" name="Text 39"/>
          <p:cNvSpPr/>
          <p:nvPr/>
        </p:nvSpPr>
        <p:spPr>
          <a:xfrm>
            <a:off x="2542032" y="2578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 Block 2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542032" y="2907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Conv2D(32→64, 3×3, pad=1)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542032" y="3255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BatchNorm2D(64)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542032" y="36027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ReLU Activation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542032" y="3950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MaxPool2d(2×2)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2542032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Output: 64×7×7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626864" y="2514600"/>
            <a:ext cx="2011680" cy="2377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8" name="Shape 46"/>
          <p:cNvSpPr/>
          <p:nvPr/>
        </p:nvSpPr>
        <p:spPr>
          <a:xfrm>
            <a:off x="4626864" y="2514600"/>
            <a:ext cx="201168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9" name="Text 47"/>
          <p:cNvSpPr/>
          <p:nvPr/>
        </p:nvSpPr>
        <p:spPr>
          <a:xfrm>
            <a:off x="4718304" y="2578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718304" y="2907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Flatten: 64×7×7 = 3136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4718304" y="3255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FC1: 3136 → 128 (ReLU)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4718304" y="36027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Dropout(p=0.5)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718304" y="3950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FC2: 128 → 10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718304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Output: Logits 10 kelas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803136" y="2514600"/>
            <a:ext cx="2011680" cy="23774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6" name="Shape 54"/>
          <p:cNvSpPr/>
          <p:nvPr/>
        </p:nvSpPr>
        <p:spPr>
          <a:xfrm>
            <a:off x="6803136" y="2514600"/>
            <a:ext cx="201168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7" name="Text 55"/>
          <p:cNvSpPr/>
          <p:nvPr/>
        </p:nvSpPr>
        <p:spPr>
          <a:xfrm>
            <a:off x="6894576" y="25786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894576" y="2907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Loss: CrossEntropyLoss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6894576" y="32552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Optimizer: Adam (lr=0.001)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894576" y="360273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Scheduler: ReduceLROnPlateau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894576" y="3950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Epochs: 20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894576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Batch Size: 64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4ED5F3-89E6-D816-6DD8-9DFFC01DA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90FFFF-FA73-CD57-15FD-BE9B7AEEF022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E56D0D9-9731-4A7D-B3B5-9B1BF15A9D8B}"/>
              </a:ext>
            </a:extLst>
          </p:cNvPr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|Detail processing</a:t>
            </a:r>
            <a:endParaRPr lang="en-US"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3472519-4072-ED15-57A6-6D56CB6D577A}"/>
              </a:ext>
            </a:extLst>
          </p:cNvPr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12678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|  Proses Training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54864" cy="1188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411480" y="1069848"/>
            <a:ext cx="347472" cy="347472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411480" y="1069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069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4630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dimasukkan ke model, menghasilkan prediksi logits untuk 10 kelas digit.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54680" y="96012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3154680" y="960120"/>
            <a:ext cx="54864" cy="1188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Shape 10"/>
          <p:cNvSpPr/>
          <p:nvPr/>
        </p:nvSpPr>
        <p:spPr>
          <a:xfrm>
            <a:off x="3291840" y="1069848"/>
            <a:ext cx="347472" cy="34747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3" name="Text 11"/>
          <p:cNvSpPr/>
          <p:nvPr/>
        </p:nvSpPr>
        <p:spPr>
          <a:xfrm>
            <a:off x="3291840" y="1069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703320" y="1069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Hitung Loss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14630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CrossEntropyLoss membandingkan prediksi dengan label sebenarnya.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35040" y="96012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6035040" y="960120"/>
            <a:ext cx="54864" cy="1188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Shape 16"/>
          <p:cNvSpPr/>
          <p:nvPr/>
        </p:nvSpPr>
        <p:spPr>
          <a:xfrm>
            <a:off x="6172200" y="1069848"/>
            <a:ext cx="347472" cy="34747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9" name="Text 17"/>
          <p:cNvSpPr/>
          <p:nvPr/>
        </p:nvSpPr>
        <p:spPr>
          <a:xfrm>
            <a:off x="6172200" y="10698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106984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72200" y="146304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dihitung menggunakan backpropagation melalui semua layer.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37744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274320" y="2377440"/>
            <a:ext cx="54864" cy="1188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Shape 22"/>
          <p:cNvSpPr/>
          <p:nvPr/>
        </p:nvSpPr>
        <p:spPr>
          <a:xfrm>
            <a:off x="411480" y="2487168"/>
            <a:ext cx="347472" cy="34747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5" name="Text 23"/>
          <p:cNvSpPr/>
          <p:nvPr/>
        </p:nvSpPr>
        <p:spPr>
          <a:xfrm>
            <a:off x="411480" y="2487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" y="2487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Weights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28803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 memperbarui bobot model berdasarkan gradient.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54680" y="237744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3154680" y="2377440"/>
            <a:ext cx="54864" cy="1188720"/>
          </a:xfrm>
          <a:prstGeom prst="rect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Shape 28"/>
          <p:cNvSpPr/>
          <p:nvPr/>
        </p:nvSpPr>
        <p:spPr>
          <a:xfrm>
            <a:off x="3291840" y="2487168"/>
            <a:ext cx="347472" cy="347472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Text 29"/>
          <p:cNvSpPr/>
          <p:nvPr/>
        </p:nvSpPr>
        <p:spPr>
          <a:xfrm>
            <a:off x="3291840" y="2487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703320" y="2487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291840" y="28803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epoch, model dievaluasi pada data validasi untuk memantau overfitting.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2377440"/>
            <a:ext cx="26517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5" name="Shape 33"/>
          <p:cNvSpPr/>
          <p:nvPr/>
        </p:nvSpPr>
        <p:spPr>
          <a:xfrm>
            <a:off x="6035040" y="2377440"/>
            <a:ext cx="54864" cy="1188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6" name="Shape 34"/>
          <p:cNvSpPr/>
          <p:nvPr/>
        </p:nvSpPr>
        <p:spPr>
          <a:xfrm>
            <a:off x="6172200" y="2487168"/>
            <a:ext cx="347472" cy="347472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7" name="Text 35"/>
          <p:cNvSpPr/>
          <p:nvPr/>
        </p:nvSpPr>
        <p:spPr>
          <a:xfrm>
            <a:off x="6172200" y="248716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583680" y="24871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172200" y="2880360"/>
            <a:ext cx="2423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 menurunkan learning rate jika val loss tidak membaik.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3886200"/>
            <a:ext cx="8595360" cy="100584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1" name="Text 39"/>
          <p:cNvSpPr/>
          <p:nvPr/>
        </p:nvSpPr>
        <p:spPr>
          <a:xfrm>
            <a:off x="457200" y="39136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Forward → Loss → Backward → Step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= model(images)   |   loss = criterion(outputs, labels)   |   optimizer.zero_grad()   |   loss.backward()   |   optimizer.step()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7200" y="44988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Epochs  ·  Batch Size 64  ·  Adam lr=0.001  ·  ReduceLROnPlateau(patience=3, factor=0.1)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FE097-CDC2-F671-E64F-078CB68F1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443EEC-4147-E3AF-EB1B-817C065E5902}"/>
              </a:ext>
            </a:extLst>
          </p:cNvPr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17B88E-12A7-3467-806E-67E69BB5F80C}"/>
              </a:ext>
            </a:extLst>
          </p:cNvPr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 Training</a:t>
            </a:r>
            <a:endParaRPr lang="en-US" sz="24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C3763095-6A85-898C-8EA6-6E32B338B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0" y="1265015"/>
            <a:ext cx="7101840" cy="2926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85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Evaluasi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822960"/>
            <a:ext cx="9144000" cy="36576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192024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1920240" cy="457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5087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10.000 gambar test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50592" y="960120"/>
            <a:ext cx="192024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2450592" y="960120"/>
            <a:ext cx="192024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2450592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450592" y="15087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Epoch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73736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early stopping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35424" y="960120"/>
            <a:ext cx="192024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4535424" y="960120"/>
            <a:ext cx="1920240" cy="457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4535424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535424" y="15087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35424" y="173736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Gambar per iterasi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620256" y="960120"/>
            <a:ext cx="1920240" cy="100584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6620256" y="960120"/>
            <a:ext cx="1920240" cy="457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6620256" y="1051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620256" y="150876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Kelas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0256" y="173736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 0 hingga 9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65760" y="2148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(Ilustrasi)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248716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48640" y="27432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60120" y="2743200"/>
            <a:ext cx="438912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Text 27"/>
          <p:cNvSpPr/>
          <p:nvPr/>
        </p:nvSpPr>
        <p:spPr>
          <a:xfrm>
            <a:off x="960120" y="274320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463040" y="2743200"/>
            <a:ext cx="438912" cy="3474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1" name="Shape 29"/>
          <p:cNvSpPr/>
          <p:nvPr/>
        </p:nvSpPr>
        <p:spPr>
          <a:xfrm>
            <a:off x="1965960" y="2743200"/>
            <a:ext cx="438912" cy="3474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2" name="Shape 30"/>
          <p:cNvSpPr/>
          <p:nvPr/>
        </p:nvSpPr>
        <p:spPr>
          <a:xfrm>
            <a:off x="2468880" y="2743200"/>
            <a:ext cx="438912" cy="3474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3" name="Shape 31"/>
          <p:cNvSpPr/>
          <p:nvPr/>
        </p:nvSpPr>
        <p:spPr>
          <a:xfrm>
            <a:off x="2971800" y="2743200"/>
            <a:ext cx="438912" cy="3474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4" name="Text 32"/>
          <p:cNvSpPr/>
          <p:nvPr/>
        </p:nvSpPr>
        <p:spPr>
          <a:xfrm>
            <a:off x="1463040" y="248716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8640" y="315468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960120" y="3154680"/>
            <a:ext cx="438912" cy="3474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7" name="Shape 35"/>
          <p:cNvSpPr/>
          <p:nvPr/>
        </p:nvSpPr>
        <p:spPr>
          <a:xfrm>
            <a:off x="1463040" y="3154680"/>
            <a:ext cx="438912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8" name="Text 36"/>
          <p:cNvSpPr/>
          <p:nvPr/>
        </p:nvSpPr>
        <p:spPr>
          <a:xfrm>
            <a:off x="1463040" y="315468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965960" y="3154680"/>
            <a:ext cx="438912" cy="3474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0" name="Shape 38"/>
          <p:cNvSpPr/>
          <p:nvPr/>
        </p:nvSpPr>
        <p:spPr>
          <a:xfrm>
            <a:off x="2468880" y="3154680"/>
            <a:ext cx="438912" cy="3474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1" name="Shape 39"/>
          <p:cNvSpPr/>
          <p:nvPr/>
        </p:nvSpPr>
        <p:spPr>
          <a:xfrm>
            <a:off x="2971800" y="3154680"/>
            <a:ext cx="438912" cy="3474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2" name="Text 40"/>
          <p:cNvSpPr/>
          <p:nvPr/>
        </p:nvSpPr>
        <p:spPr>
          <a:xfrm>
            <a:off x="1965960" y="248716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48640" y="35661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960120" y="3566160"/>
            <a:ext cx="438912" cy="3474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5" name="Shape 43"/>
          <p:cNvSpPr/>
          <p:nvPr/>
        </p:nvSpPr>
        <p:spPr>
          <a:xfrm>
            <a:off x="1463040" y="3566160"/>
            <a:ext cx="438912" cy="3474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6" name="Shape 44"/>
          <p:cNvSpPr/>
          <p:nvPr/>
        </p:nvSpPr>
        <p:spPr>
          <a:xfrm>
            <a:off x="1965960" y="3566160"/>
            <a:ext cx="438912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7" name="Text 45"/>
          <p:cNvSpPr/>
          <p:nvPr/>
        </p:nvSpPr>
        <p:spPr>
          <a:xfrm>
            <a:off x="1965960" y="356616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468880" y="3566160"/>
            <a:ext cx="438912" cy="3474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9" name="Shape 47"/>
          <p:cNvSpPr/>
          <p:nvPr/>
        </p:nvSpPr>
        <p:spPr>
          <a:xfrm>
            <a:off x="2971800" y="3566160"/>
            <a:ext cx="438912" cy="3474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0" name="Text 48"/>
          <p:cNvSpPr/>
          <p:nvPr/>
        </p:nvSpPr>
        <p:spPr>
          <a:xfrm>
            <a:off x="2468880" y="248716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48640" y="39776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960120" y="3977640"/>
            <a:ext cx="438912" cy="3474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3" name="Shape 51"/>
          <p:cNvSpPr/>
          <p:nvPr/>
        </p:nvSpPr>
        <p:spPr>
          <a:xfrm>
            <a:off x="1463040" y="3977640"/>
            <a:ext cx="438912" cy="3474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4" name="Shape 52"/>
          <p:cNvSpPr/>
          <p:nvPr/>
        </p:nvSpPr>
        <p:spPr>
          <a:xfrm>
            <a:off x="1965960" y="3977640"/>
            <a:ext cx="438912" cy="3474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5" name="Shape 53"/>
          <p:cNvSpPr/>
          <p:nvPr/>
        </p:nvSpPr>
        <p:spPr>
          <a:xfrm>
            <a:off x="2468880" y="3977640"/>
            <a:ext cx="438912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6" name="Text 54"/>
          <p:cNvSpPr/>
          <p:nvPr/>
        </p:nvSpPr>
        <p:spPr>
          <a:xfrm>
            <a:off x="2468880" y="397764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971800" y="3977640"/>
            <a:ext cx="438912" cy="3474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8" name="Text 56"/>
          <p:cNvSpPr/>
          <p:nvPr/>
        </p:nvSpPr>
        <p:spPr>
          <a:xfrm>
            <a:off x="2971800" y="2487168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548640" y="43891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960120" y="4389120"/>
            <a:ext cx="438912" cy="3474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1" name="Shape 59"/>
          <p:cNvSpPr/>
          <p:nvPr/>
        </p:nvSpPr>
        <p:spPr>
          <a:xfrm>
            <a:off x="1463040" y="4389120"/>
            <a:ext cx="438912" cy="3474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2" name="Shape 60"/>
          <p:cNvSpPr/>
          <p:nvPr/>
        </p:nvSpPr>
        <p:spPr>
          <a:xfrm>
            <a:off x="1965960" y="4389120"/>
            <a:ext cx="438912" cy="3474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3" name="Shape 61"/>
          <p:cNvSpPr/>
          <p:nvPr/>
        </p:nvSpPr>
        <p:spPr>
          <a:xfrm>
            <a:off x="2468880" y="4389120"/>
            <a:ext cx="438912" cy="347472"/>
          </a:xfrm>
          <a:prstGeom prst="rect">
            <a:avLst/>
          </a:prstGeom>
          <a:solidFill>
            <a:srgbClr val="334155">
              <a:alpha val="20000"/>
            </a:srgbClr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4" name="Shape 62"/>
          <p:cNvSpPr/>
          <p:nvPr/>
        </p:nvSpPr>
        <p:spPr>
          <a:xfrm>
            <a:off x="2971800" y="4389120"/>
            <a:ext cx="438912" cy="347472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5" name="Text 63"/>
          <p:cNvSpPr/>
          <p:nvPr/>
        </p:nvSpPr>
        <p:spPr>
          <a:xfrm>
            <a:off x="2971800" y="438912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65760" y="480060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= Prediksi Benar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4937760" y="2148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Report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4937760" y="2487168"/>
            <a:ext cx="3840480" cy="25146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9" name="Text 67"/>
          <p:cNvSpPr/>
          <p:nvPr/>
        </p:nvSpPr>
        <p:spPr>
          <a:xfrm>
            <a:off x="5010912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Kelas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5907024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803136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7699248" y="2514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010912" y="283464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907024" y="28346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6803136" y="28346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76" name="Text 74"/>
          <p:cNvSpPr/>
          <p:nvPr/>
        </p:nvSpPr>
        <p:spPr>
          <a:xfrm>
            <a:off x="7699248" y="283464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5010912" y="305409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5907024" y="305409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6803136" y="305409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80" name="Text 78"/>
          <p:cNvSpPr/>
          <p:nvPr/>
        </p:nvSpPr>
        <p:spPr>
          <a:xfrm>
            <a:off x="7699248" y="305409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81" name="Text 79"/>
          <p:cNvSpPr/>
          <p:nvPr/>
        </p:nvSpPr>
        <p:spPr>
          <a:xfrm>
            <a:off x="5010912" y="327355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5907024" y="32735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803136" y="32735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7699248" y="327355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5010912" y="349300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5907024" y="349300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6803136" y="349300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7699248" y="349300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5010912" y="371246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5907024" y="371246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6803136" y="371246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92" name="Text 90"/>
          <p:cNvSpPr/>
          <p:nvPr/>
        </p:nvSpPr>
        <p:spPr>
          <a:xfrm>
            <a:off x="7699248" y="371246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5010912" y="3931920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5907024" y="39319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6803136" y="39319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7699248" y="3931920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5010912" y="4151376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98" name="Text 96"/>
          <p:cNvSpPr/>
          <p:nvPr/>
        </p:nvSpPr>
        <p:spPr>
          <a:xfrm>
            <a:off x="5907024" y="415137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6803136" y="415137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7699248" y="4151376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5010912" y="4370832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5907024" y="4370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6803136" y="4370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7699248" y="4370832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5010912" y="4590288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106" name="Text 104"/>
          <p:cNvSpPr/>
          <p:nvPr/>
        </p:nvSpPr>
        <p:spPr>
          <a:xfrm>
            <a:off x="5907024" y="45902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6803136" y="45902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7699248" y="459028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5010912" y="4809744"/>
            <a:ext cx="274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110" name="Text 108"/>
          <p:cNvSpPr/>
          <p:nvPr/>
        </p:nvSpPr>
        <p:spPr>
          <a:xfrm>
            <a:off x="5907024" y="480974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6803136" y="480974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112" name="Text 110"/>
          <p:cNvSpPr/>
          <p:nvPr/>
        </p:nvSpPr>
        <p:spPr>
          <a:xfrm>
            <a:off x="7699248" y="480974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5010912" y="4956048"/>
            <a:ext cx="365760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4" name="Text 112"/>
          <p:cNvSpPr/>
          <p:nvPr/>
        </p:nvSpPr>
        <p:spPr>
          <a:xfrm>
            <a:off x="5010912" y="49834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50" dirty="0"/>
          </a:p>
        </p:txBody>
      </p:sp>
      <p:sp>
        <p:nvSpPr>
          <p:cNvPr id="115" name="Text 113"/>
          <p:cNvSpPr/>
          <p:nvPr/>
        </p:nvSpPr>
        <p:spPr>
          <a:xfrm>
            <a:off x="6858000" y="498348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~99%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7C8A08-107A-4B4B-47A8-8FB44C23C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056" y="0"/>
            <a:ext cx="5847887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820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10972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Prediksi Gambar Baru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914400" y="713232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914400" y="713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005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Gambar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PIL.Image.open()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convert('L')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74520" y="1417320"/>
            <a:ext cx="164592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Shape 8"/>
          <p:cNvSpPr/>
          <p:nvPr/>
        </p:nvSpPr>
        <p:spPr>
          <a:xfrm>
            <a:off x="2039112" y="96012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1" name="Shape 9"/>
          <p:cNvSpPr/>
          <p:nvPr/>
        </p:nvSpPr>
        <p:spPr>
          <a:xfrm>
            <a:off x="2633472" y="713232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2633472" y="713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39112" y="1005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39112" y="138988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img.resize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(28, 28)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593592" y="1417320"/>
            <a:ext cx="164592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Shape 14"/>
          <p:cNvSpPr/>
          <p:nvPr/>
        </p:nvSpPr>
        <p:spPr>
          <a:xfrm>
            <a:off x="3758184" y="96012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4352544" y="713232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352544" y="713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758184" y="1005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58184" y="138988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X &amp; 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Magnitude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312664" y="1417320"/>
            <a:ext cx="164592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2" name="Shape 20"/>
          <p:cNvSpPr/>
          <p:nvPr/>
        </p:nvSpPr>
        <p:spPr>
          <a:xfrm>
            <a:off x="5477256" y="96012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3" name="Shape 21"/>
          <p:cNvSpPr/>
          <p:nvPr/>
        </p:nvSpPr>
        <p:spPr>
          <a:xfrm>
            <a:off x="6071616" y="713232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4" name="Text 22"/>
          <p:cNvSpPr/>
          <p:nvPr/>
        </p:nvSpPr>
        <p:spPr>
          <a:xfrm>
            <a:off x="6071616" y="713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77256" y="1005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Normalisasi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77256" y="138988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0..1 range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scaling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031736" y="1417320"/>
            <a:ext cx="164592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28" name="Shape 26"/>
          <p:cNvSpPr/>
          <p:nvPr/>
        </p:nvSpPr>
        <p:spPr>
          <a:xfrm>
            <a:off x="7196328" y="960120"/>
            <a:ext cx="1554480" cy="914400"/>
          </a:xfrm>
          <a:prstGeom prst="roundRect">
            <a:avLst>
              <a:gd name="adj" fmla="val 10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9" name="Shape 27"/>
          <p:cNvSpPr/>
          <p:nvPr/>
        </p:nvSpPr>
        <p:spPr>
          <a:xfrm>
            <a:off x="7790688" y="713232"/>
            <a:ext cx="365760" cy="365760"/>
          </a:xfrm>
          <a:prstGeom prst="ellipse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0" name="Text 28"/>
          <p:cNvSpPr/>
          <p:nvPr/>
        </p:nvSpPr>
        <p:spPr>
          <a:xfrm>
            <a:off x="7790688" y="713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96328" y="10058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Prediksi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196328" y="1389888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model(img)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argmax → digit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20040" y="205740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Edge Detection — Detail Implementasi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20040" y="2395728"/>
            <a:ext cx="5303520" cy="251460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5" name="Text 33"/>
          <p:cNvSpPr/>
          <p:nvPr/>
        </p:nvSpPr>
        <p:spPr>
          <a:xfrm>
            <a:off x="457200" y="2450592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Sobel kernels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sobel_x = [[-1,0,1],[-2,0,2],[-1,0,1]]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sobel_y = [[-1,-2,-1],[0,0,0],[1,2,1]]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Konvolusi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 = F.conv2d(img_tensor, sobel, padding=1)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Magnitudo gradien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 = sqrt(edges_x² + edges_y²)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Normalisasi 0..1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edges = edges / edges.max()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852160" y="2057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Prediksi Gambar Baru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52160" y="2423160"/>
            <a:ext cx="2971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38" name="Shape 36"/>
          <p:cNvSpPr/>
          <p:nvPr/>
        </p:nvSpPr>
        <p:spPr>
          <a:xfrm>
            <a:off x="5852160" y="2423160"/>
            <a:ext cx="45720" cy="5029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9" name="Text 37"/>
          <p:cNvSpPr/>
          <p:nvPr/>
        </p:nvSpPr>
        <p:spPr>
          <a:xfrm>
            <a:off x="5989320" y="245973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Grayscale Support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989320" y="26700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Langsung proses gambar hitam putih 1 channel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852160" y="3017520"/>
            <a:ext cx="2971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2" name="Shape 40"/>
          <p:cNvSpPr/>
          <p:nvPr/>
        </p:nvSpPr>
        <p:spPr>
          <a:xfrm>
            <a:off x="5852160" y="3017520"/>
            <a:ext cx="45720" cy="502920"/>
          </a:xfrm>
          <a:prstGeom prst="rect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3" name="Text 41"/>
          <p:cNvSpPr/>
          <p:nvPr/>
        </p:nvSpPr>
        <p:spPr>
          <a:xfrm>
            <a:off x="5989320" y="305409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Detection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989320" y="32644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Sobel filter mengekstrak tepian/kontur digit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852160" y="3611880"/>
            <a:ext cx="2971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46" name="Shape 44"/>
          <p:cNvSpPr/>
          <p:nvPr/>
        </p:nvSpPr>
        <p:spPr>
          <a:xfrm>
            <a:off x="5852160" y="3611880"/>
            <a:ext cx="45720" cy="50292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7" name="Text 45"/>
          <p:cNvSpPr/>
          <p:nvPr/>
        </p:nvSpPr>
        <p:spPr>
          <a:xfrm>
            <a:off x="5989320" y="364845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Support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989320" y="38587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Konversi otomatis dari gambar berwarna ke grayscale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5852160" y="4206240"/>
            <a:ext cx="29718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0" name="Shape 48"/>
          <p:cNvSpPr/>
          <p:nvPr/>
        </p:nvSpPr>
        <p:spPr>
          <a:xfrm>
            <a:off x="5852160" y="4206240"/>
            <a:ext cx="45720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51" name="Text 49"/>
          <p:cNvSpPr/>
          <p:nvPr/>
        </p:nvSpPr>
        <p:spPr>
          <a:xfrm>
            <a:off x="5989320" y="42428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 Option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989320" y="44531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Membalik warna untuk digit gelap di latar terang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899A6-9BDE-5328-B342-7722DB0B2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6A5470B-5409-CAAD-84A9-3FA20F47D19D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7DDC89B-B33B-C17D-5671-D3E0ECB39072}"/>
              </a:ext>
            </a:extLst>
          </p:cNvPr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</a:t>
            </a: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2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Penerapan</a:t>
            </a: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Pada Data external</a:t>
            </a:r>
            <a:endParaRPr lang="en-US" sz="3200" dirty="0">
              <a:solidFill>
                <a:srgbClr val="1E293B"/>
              </a:solidFill>
            </a:endParaRPr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08847440-B020-EDBA-0F77-44F17946BC56}"/>
              </a:ext>
            </a:extLst>
          </p:cNvPr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PyTorch + MNIST + Sobel Edge Detection  |  Deteksi Tulisan Tangan Digit 0-9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4250304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605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Dataset &amp; Preprocessing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173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MNIST dengan 70.000 gambar dibagi menjadi training (50K), validasi (10K), dan testing (10K) menggunakan PyTorch DataLoader.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416052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1605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Arsitektur CNN Efektif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Conv Block dengan BatchNorm + ReLU + MaxPool, dilanjutkan Fully Connected layer dengan Dropout 0.5 untuk regularisasi.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566160"/>
            <a:ext cx="416052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3" name="Shape 11"/>
          <p:cNvSpPr/>
          <p:nvPr/>
        </p:nvSpPr>
        <p:spPr>
          <a:xfrm>
            <a:off x="365760" y="3566160"/>
            <a:ext cx="41605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502920" y="3657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Training yang Robust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" y="39776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 dengan ReduceLROnPlateau scheduler menghasilkan konvergensi stabil selama 20 epoch dengan batch size 64.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00600" y="1005840"/>
            <a:ext cx="416052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7" name="Shape 15"/>
          <p:cNvSpPr/>
          <p:nvPr/>
        </p:nvSpPr>
        <p:spPr>
          <a:xfrm>
            <a:off x="4800600" y="1005840"/>
            <a:ext cx="41605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4937760" y="10972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Akurasi Tinggi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14173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mencapai akurasi ~99% pada test set dengan precision, recall, dan F1-Score yang sangat tinggi untuk semua kelas digit.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2286000"/>
            <a:ext cx="4160520" cy="1097280"/>
          </a:xfrm>
          <a:prstGeom prst="rect">
            <a:avLst/>
          </a:prstGeom>
          <a:solidFill>
            <a:srgbClr val="1E293B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21" name="Shape 19"/>
          <p:cNvSpPr/>
          <p:nvPr/>
        </p:nvSpPr>
        <p:spPr>
          <a:xfrm>
            <a:off x="4800600" y="2286000"/>
            <a:ext cx="4160520" cy="45720"/>
          </a:xfrm>
          <a:prstGeom prst="rect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22" name="Text 20"/>
          <p:cNvSpPr/>
          <p:nvPr/>
        </p:nvSpPr>
        <p:spPr>
          <a:xfrm>
            <a:off x="493776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Prediksi Gambar Eksternal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0" y="26974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dapat memprediksi digit dari gambar baru (grayscale/RGB) menggunakan Sobel edge detection untuk preprocessing optimal.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PyTorch + MNIST + Sobel Edge Detection  |  Deteksi Tulisan Tangan Digit 0-9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1032</Words>
  <Application>Microsoft Office PowerPoint</Application>
  <PresentationFormat>On-screen Show (16:9)</PresentationFormat>
  <Paragraphs>298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Deteksi Tulisan Tangan dengan CNN</dc:title>
  <dc:subject>PptxGenJS Presentation</dc:subject>
  <dc:creator>PptxGenJS</dc:creator>
  <cp:lastModifiedBy>Haikal Abdurrahman</cp:lastModifiedBy>
  <cp:revision>3</cp:revision>
  <dcterms:created xsi:type="dcterms:W3CDTF">2026-05-06T07:29:07Z</dcterms:created>
  <dcterms:modified xsi:type="dcterms:W3CDTF">2026-05-06T14:21:28Z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8b525e5-f3da-4501-8f1e-526b6769fc56_Enabled">
    <vt:lpwstr>true</vt:lpwstr>
  </property>
  <property fmtid="{D5CDD505-2E9C-101B-9397-08002B2CF9AE}" pid="3" name="MSIP_Label_38b525e5-f3da-4501-8f1e-526b6769fc56_SetDate">
    <vt:lpwstr>2026-05-06T12:09:15Z</vt:lpwstr>
  </property>
  <property fmtid="{D5CDD505-2E9C-101B-9397-08002B2CF9AE}" pid="4" name="MSIP_Label_38b525e5-f3da-4501-8f1e-526b6769fc56_Method">
    <vt:lpwstr>Standard</vt:lpwstr>
  </property>
  <property fmtid="{D5CDD505-2E9C-101B-9397-08002B2CF9AE}" pid="5" name="MSIP_Label_38b525e5-f3da-4501-8f1e-526b6769fc56_Name">
    <vt:lpwstr>defa4170-0d19-0005-0004-bc88714345d2</vt:lpwstr>
  </property>
  <property fmtid="{D5CDD505-2E9C-101B-9397-08002B2CF9AE}" pid="6" name="MSIP_Label_38b525e5-f3da-4501-8f1e-526b6769fc56_SiteId">
    <vt:lpwstr>db6e1183-4c65-405c-82ce-7cd53fa6e9dc</vt:lpwstr>
  </property>
  <property fmtid="{D5CDD505-2E9C-101B-9397-08002B2CF9AE}" pid="7" name="MSIP_Label_38b525e5-f3da-4501-8f1e-526b6769fc56_ActionId">
    <vt:lpwstr>cfad77f5-a5cf-41bd-8915-6ec36edef18f</vt:lpwstr>
  </property>
  <property fmtid="{D5CDD505-2E9C-101B-9397-08002B2CF9AE}" pid="8" name="MSIP_Label_38b525e5-f3da-4501-8f1e-526b6769fc56_ContentBits">
    <vt:lpwstr>0</vt:lpwstr>
  </property>
  <property fmtid="{D5CDD505-2E9C-101B-9397-08002B2CF9AE}" pid="9" name="MSIP_Label_38b525e5-f3da-4501-8f1e-526b6769fc56_Tag">
    <vt:lpwstr>10, 3, 0, 1</vt:lpwstr>
  </property>
</Properties>
</file>